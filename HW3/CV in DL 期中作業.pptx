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8" r:id="rId3"/>
    <p:sldId id="259" r:id="rId4"/>
    <p:sldId id="269" r:id="rId5"/>
    <p:sldId id="268" r:id="rId6"/>
    <p:sldId id="257" r:id="rId7"/>
    <p:sldId id="261" r:id="rId8"/>
    <p:sldId id="262" r:id="rId9"/>
    <p:sldId id="263" r:id="rId10"/>
    <p:sldId id="264" r:id="rId11"/>
    <p:sldId id="271" r:id="rId12"/>
    <p:sldId id="270" r:id="rId13"/>
    <p:sldId id="273" r:id="rId14"/>
    <p:sldId id="274" r:id="rId15"/>
    <p:sldId id="275" r:id="rId16"/>
    <p:sldId id="276" r:id="rId17"/>
    <p:sldId id="277" r:id="rId18"/>
    <p:sldId id="278" r:id="rId19"/>
    <p:sldId id="266" r:id="rId20"/>
    <p:sldId id="280" r:id="rId21"/>
    <p:sldId id="281" r:id="rId22"/>
    <p:sldId id="282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79" r:id="rId32"/>
    <p:sldId id="292" r:id="rId33"/>
    <p:sldId id="293" r:id="rId34"/>
    <p:sldId id="294" r:id="rId35"/>
    <p:sldId id="28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87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989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90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28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07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109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24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3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0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1610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599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1921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158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517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0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A6521-9F56-4480-B0F9-47FD08DABA26}" type="datetimeFigureOut">
              <a:rPr lang="zh-TW" altLang="en-US" smtClean="0"/>
              <a:t>2025/4/2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B95F59E-9AD6-4862-9731-6AE6E3CC1E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03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C088D8-C3E9-467B-8C0B-F05FECF8F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915399" cy="1325880"/>
          </a:xfrm>
        </p:spPr>
        <p:txBody>
          <a:bodyPr/>
          <a:lstStyle/>
          <a:p>
            <a:pPr algn="ctr"/>
            <a:r>
              <a:rPr lang="en-US" altLang="zh-TW" dirty="0"/>
              <a:t>CV in DL</a:t>
            </a:r>
            <a:r>
              <a:rPr lang="zh-TW" altLang="en-US" dirty="0"/>
              <a:t> 期中作業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975A7DE-BF73-4ECE-BB70-3320BA26C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981851"/>
            <a:ext cx="8915399" cy="462133"/>
          </a:xfrm>
        </p:spPr>
        <p:txBody>
          <a:bodyPr>
            <a:normAutofit/>
          </a:bodyPr>
          <a:lstStyle/>
          <a:p>
            <a:pPr algn="ctr"/>
            <a:r>
              <a:rPr lang="en-US" altLang="zh-TW" sz="2400" dirty="0"/>
              <a:t>N26130825</a:t>
            </a:r>
            <a:r>
              <a:rPr lang="zh-TW" altLang="en-US" sz="2400" dirty="0"/>
              <a:t> 王郁誠</a:t>
            </a:r>
          </a:p>
        </p:txBody>
      </p:sp>
    </p:spTree>
    <p:extLst>
      <p:ext uri="{BB962C8B-B14F-4D97-AF65-F5344CB8AC3E}">
        <p14:creationId xmlns:p14="http://schemas.microsoft.com/office/powerpoint/2010/main" val="2029780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88721-2AF6-457B-AE3C-350729BE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7200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F9D319-11F3-4057-8EDA-D5B58A5E8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實驗環境</a:t>
            </a:r>
            <a:endParaRPr lang="en-US" altLang="zh-TW" sz="3200" dirty="0"/>
          </a:p>
          <a:p>
            <a:r>
              <a:rPr lang="zh-TW" altLang="en-US" sz="3200" dirty="0"/>
              <a:t>資料處理</a:t>
            </a:r>
            <a:endParaRPr lang="en-US" altLang="zh-TW" sz="3200" dirty="0"/>
          </a:p>
          <a:p>
            <a:r>
              <a:rPr lang="zh-TW" altLang="en-US" sz="3200" dirty="0"/>
              <a:t>資料生成</a:t>
            </a:r>
            <a:endParaRPr lang="en-US" altLang="zh-TW" sz="3200" dirty="0"/>
          </a:p>
          <a:p>
            <a:r>
              <a:rPr lang="zh-TW" altLang="en-US" sz="3200" dirty="0"/>
              <a:t>模型設計</a:t>
            </a:r>
            <a:endParaRPr lang="en-US" altLang="zh-TW" sz="3200" dirty="0"/>
          </a:p>
          <a:p>
            <a:r>
              <a:rPr lang="zh-TW" altLang="en-US" sz="3200" dirty="0"/>
              <a:t>結果分析</a:t>
            </a:r>
            <a:endParaRPr lang="en-US" altLang="zh-TW" sz="3200" dirty="0"/>
          </a:p>
          <a:p>
            <a:r>
              <a:rPr lang="zh-TW" altLang="en-US" sz="3200" dirty="0"/>
              <a:t>實驗討論</a:t>
            </a:r>
            <a:endParaRPr lang="en-US" altLang="zh-TW" sz="3200" dirty="0"/>
          </a:p>
          <a:p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1142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88721-2AF6-457B-AE3C-350729BE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277" y="2827814"/>
            <a:ext cx="4265075" cy="1689322"/>
          </a:xfrm>
        </p:spPr>
        <p:txBody>
          <a:bodyPr>
            <a:noAutofit/>
          </a:bodyPr>
          <a:lstStyle/>
          <a:p>
            <a:r>
              <a:rPr lang="zh-TW" altLang="en-US" sz="7200" dirty="0"/>
              <a:t>實驗環境</a:t>
            </a:r>
            <a:endParaRPr lang="en-US" altLang="zh-TW" sz="7200" dirty="0"/>
          </a:p>
        </p:txBody>
      </p:sp>
    </p:spTree>
    <p:extLst>
      <p:ext uri="{BB962C8B-B14F-4D97-AF65-F5344CB8AC3E}">
        <p14:creationId xmlns:p14="http://schemas.microsoft.com/office/powerpoint/2010/main" val="36398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 Kaggle kernel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320" y="3550187"/>
            <a:ext cx="2295845" cy="481584"/>
          </a:xfrm>
        </p:spPr>
        <p:txBody>
          <a:bodyPr>
            <a:normAutofit/>
          </a:bodyPr>
          <a:lstStyle/>
          <a:p>
            <a:r>
              <a:rPr lang="zh-TW" altLang="en-US" dirty="0"/>
              <a:t>硬體資源：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FF9DAF-4D03-447D-A872-DFF45D2D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501" y="467809"/>
            <a:ext cx="2295845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8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88721-2AF6-457B-AE3C-350729BE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277" y="2827814"/>
            <a:ext cx="4265075" cy="1689322"/>
          </a:xfrm>
        </p:spPr>
        <p:txBody>
          <a:bodyPr>
            <a:noAutofit/>
          </a:bodyPr>
          <a:lstStyle/>
          <a:p>
            <a:r>
              <a:rPr lang="zh-TW" altLang="en-US" sz="7200" dirty="0"/>
              <a:t>資料處理</a:t>
            </a:r>
            <a:endParaRPr lang="en-US" altLang="zh-TW" sz="7200" dirty="0"/>
          </a:p>
        </p:txBody>
      </p:sp>
    </p:spTree>
    <p:extLst>
      <p:ext uri="{BB962C8B-B14F-4D97-AF65-F5344CB8AC3E}">
        <p14:creationId xmlns:p14="http://schemas.microsoft.com/office/powerpoint/2010/main" val="360987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儲存檔案資訊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6"/>
            <a:ext cx="6984556" cy="847344"/>
          </a:xfrm>
        </p:spPr>
        <p:txBody>
          <a:bodyPr>
            <a:normAutofit/>
          </a:bodyPr>
          <a:lstStyle/>
          <a:p>
            <a:r>
              <a:rPr lang="zh-TW" altLang="en-US" dirty="0"/>
              <a:t>建立 </a:t>
            </a:r>
            <a:r>
              <a:rPr lang="en-US" altLang="zh-TW" dirty="0" err="1"/>
              <a:t>file_info</a:t>
            </a:r>
            <a:r>
              <a:rPr lang="zh-TW" altLang="en-US" dirty="0"/>
              <a:t> 列表，儲存圖片之 </a:t>
            </a:r>
            <a:r>
              <a:rPr lang="en-US" altLang="zh-TW" dirty="0"/>
              <a:t>&lt;</a:t>
            </a:r>
            <a:r>
              <a:rPr lang="zh-TW" altLang="en-US" dirty="0"/>
              <a:t>路徑</a:t>
            </a:r>
            <a:r>
              <a:rPr lang="en-US" altLang="zh-TW" dirty="0"/>
              <a:t>, </a:t>
            </a:r>
            <a:r>
              <a:rPr lang="zh-TW" altLang="en-US" dirty="0"/>
              <a:t>類別</a:t>
            </a:r>
            <a:r>
              <a:rPr lang="en-US" altLang="zh-TW" dirty="0"/>
              <a:t>&gt;</a:t>
            </a:r>
          </a:p>
          <a:p>
            <a:r>
              <a:rPr lang="zh-TW" altLang="en-US" dirty="0"/>
              <a:t>建立 </a:t>
            </a:r>
            <a:r>
              <a:rPr lang="en-US" altLang="zh-TW" dirty="0" err="1"/>
              <a:t>label_map</a:t>
            </a:r>
            <a:r>
              <a:rPr lang="zh-TW" altLang="en-US" dirty="0"/>
              <a:t> 字典，紀錄 </a:t>
            </a:r>
            <a:r>
              <a:rPr lang="en-US" altLang="zh-TW" dirty="0"/>
              <a:t>&lt;</a:t>
            </a:r>
            <a:r>
              <a:rPr lang="zh-TW" altLang="en-US" dirty="0"/>
              <a:t>類別</a:t>
            </a:r>
            <a:r>
              <a:rPr lang="en-US" altLang="zh-TW" dirty="0"/>
              <a:t>, </a:t>
            </a:r>
            <a:r>
              <a:rPr lang="zh-TW" altLang="en-US" dirty="0"/>
              <a:t>類別號碼</a:t>
            </a:r>
            <a:r>
              <a:rPr lang="en-US" altLang="zh-TW" dirty="0"/>
              <a:t>&gt;</a:t>
            </a:r>
            <a:r>
              <a:rPr lang="zh-TW" altLang="en-US" dirty="0"/>
              <a:t> 對應關係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D7C722B9-4080-416B-8BE8-5BB39AA52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475" y="2331720"/>
            <a:ext cx="6563641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53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打亂檔案順序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2496"/>
            <a:ext cx="6984556" cy="478536"/>
          </a:xfrm>
        </p:spPr>
        <p:txBody>
          <a:bodyPr>
            <a:normAutofit/>
          </a:bodyPr>
          <a:lstStyle/>
          <a:p>
            <a:r>
              <a:rPr lang="zh-TW" altLang="en-US" dirty="0"/>
              <a:t>將 </a:t>
            </a:r>
            <a:r>
              <a:rPr lang="en-US" altLang="zh-TW" dirty="0" err="1"/>
              <a:t>file_info</a:t>
            </a:r>
            <a:r>
              <a:rPr lang="zh-TW" altLang="en-US" dirty="0"/>
              <a:t> 順序打亂，確保每次做都不會一樣順序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FD98BE-A524-4970-AF28-298AF871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969" y="2261616"/>
            <a:ext cx="643979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5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定義資料比例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2496"/>
            <a:ext cx="6984556" cy="478536"/>
          </a:xfrm>
        </p:spPr>
        <p:txBody>
          <a:bodyPr>
            <a:normAutofit/>
          </a:bodyPr>
          <a:lstStyle/>
          <a:p>
            <a:r>
              <a:rPr lang="en-US" altLang="zh-TW" dirty="0"/>
              <a:t>70%</a:t>
            </a:r>
            <a:r>
              <a:rPr lang="zh-TW" altLang="en-US" dirty="0"/>
              <a:t> </a:t>
            </a:r>
            <a:r>
              <a:rPr lang="en-US" altLang="zh-TW" dirty="0"/>
              <a:t>train, 10% valid, 20% test data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05D76B4C-4EB3-426C-AD2A-73E89BDF813B}"/>
              </a:ext>
            </a:extLst>
          </p:cNvPr>
          <p:cNvGrpSpPr/>
          <p:nvPr/>
        </p:nvGrpSpPr>
        <p:grpSpPr>
          <a:xfrm>
            <a:off x="3285512" y="2243328"/>
            <a:ext cx="5591955" cy="3534268"/>
            <a:chOff x="3034846" y="2939413"/>
            <a:chExt cx="5591955" cy="3534268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BDA94DEC-FEF2-4BC5-AD8A-4D9732AE3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4846" y="2939413"/>
              <a:ext cx="5591955" cy="2753109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50C735EB-67C8-4777-B450-5A21BEC71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846" y="5692522"/>
              <a:ext cx="5420481" cy="7811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2882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88721-2AF6-457B-AE3C-350729BE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277" y="2827814"/>
            <a:ext cx="4265075" cy="1689322"/>
          </a:xfrm>
        </p:spPr>
        <p:txBody>
          <a:bodyPr>
            <a:noAutofit/>
          </a:bodyPr>
          <a:lstStyle/>
          <a:p>
            <a:r>
              <a:rPr lang="zh-TW" altLang="en-US" sz="7200" dirty="0"/>
              <a:t>資料生成</a:t>
            </a:r>
            <a:endParaRPr lang="en-US" altLang="zh-TW" sz="7200" dirty="0"/>
          </a:p>
        </p:txBody>
      </p:sp>
    </p:spTree>
    <p:extLst>
      <p:ext uri="{BB962C8B-B14F-4D97-AF65-F5344CB8AC3E}">
        <p14:creationId xmlns:p14="http://schemas.microsoft.com/office/powerpoint/2010/main" val="217788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定義 </a:t>
            </a:r>
            <a:r>
              <a:rPr lang="en-US" altLang="zh-TW" dirty="0" err="1"/>
              <a:t>data_generator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6"/>
            <a:ext cx="8373644" cy="847344"/>
          </a:xfrm>
        </p:spPr>
        <p:txBody>
          <a:bodyPr>
            <a:normAutofit/>
          </a:bodyPr>
          <a:lstStyle/>
          <a:p>
            <a:r>
              <a:rPr lang="zh-TW" altLang="en-US" dirty="0"/>
              <a:t>目標：根據 </a:t>
            </a:r>
            <a:r>
              <a:rPr lang="en-US" altLang="zh-TW" dirty="0"/>
              <a:t>batch </a:t>
            </a:r>
            <a:r>
              <a:rPr lang="zh-TW" altLang="en-US" dirty="0"/>
              <a:t>動態讀取資料，而不一次性將資料讀進來，防止 </a:t>
            </a:r>
            <a:r>
              <a:rPr lang="en-US" altLang="zh-TW" dirty="0"/>
              <a:t>ram</a:t>
            </a:r>
            <a:r>
              <a:rPr lang="zh-TW" altLang="en-US" dirty="0"/>
              <a:t> 過載</a:t>
            </a:r>
            <a:endParaRPr lang="en-US" altLang="zh-TW" dirty="0"/>
          </a:p>
          <a:p>
            <a:r>
              <a:rPr lang="zh-TW" altLang="en-US" dirty="0"/>
              <a:t>開頭先定義好當前 </a:t>
            </a:r>
            <a:r>
              <a:rPr lang="en-US" altLang="zh-TW" dirty="0"/>
              <a:t>batch</a:t>
            </a:r>
            <a:r>
              <a:rPr lang="zh-TW" altLang="en-US" dirty="0"/>
              <a:t> 要讀取的檔案範圍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766E081-0182-4222-953E-15260AE05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86" y="2452726"/>
            <a:ext cx="8373644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6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定義 </a:t>
            </a:r>
            <a:r>
              <a:rPr lang="en-US" altLang="zh-TW" dirty="0" err="1"/>
              <a:t>data_generator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6"/>
            <a:ext cx="8911687" cy="883920"/>
          </a:xfrm>
        </p:spPr>
        <p:txBody>
          <a:bodyPr>
            <a:normAutofit/>
          </a:bodyPr>
          <a:lstStyle/>
          <a:p>
            <a:r>
              <a:rPr lang="zh-TW" altLang="en-US" dirty="0"/>
              <a:t>根據副檔名是 </a:t>
            </a:r>
            <a:r>
              <a:rPr lang="en-US" altLang="zh-TW" dirty="0"/>
              <a:t>.gif or .jpg</a:t>
            </a:r>
            <a:r>
              <a:rPr lang="zh-TW" altLang="en-US" dirty="0"/>
              <a:t> 決定圖片的讀取方式</a:t>
            </a:r>
            <a:endParaRPr lang="en-US" altLang="zh-TW" dirty="0"/>
          </a:p>
          <a:p>
            <a:r>
              <a:rPr lang="zh-TW" altLang="en-US" dirty="0"/>
              <a:t>將讀取到的圖片存起來 </a:t>
            </a:r>
            <a:endParaRPr lang="en-US" altLang="zh-TW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AD36D6AB-EA8E-454A-B1A6-BC0F0BBFBC55}"/>
              </a:ext>
            </a:extLst>
          </p:cNvPr>
          <p:cNvGrpSpPr/>
          <p:nvPr/>
        </p:nvGrpSpPr>
        <p:grpSpPr>
          <a:xfrm>
            <a:off x="9293757" y="4263143"/>
            <a:ext cx="1663014" cy="1899811"/>
            <a:chOff x="9132166" y="2250560"/>
            <a:chExt cx="2372446" cy="2848612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BBCF1104-C1B5-42B0-92FA-A1B4A9669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32166" y="2250560"/>
              <a:ext cx="2372446" cy="2285556"/>
            </a:xfrm>
            <a:prstGeom prst="rect">
              <a:avLst/>
            </a:prstGeom>
          </p:spPr>
        </p:pic>
        <p:sp>
          <p:nvSpPr>
            <p:cNvPr id="11" name="內容版面配置區 2">
              <a:extLst>
                <a:ext uri="{FF2B5EF4-FFF2-40B4-BE49-F238E27FC236}">
                  <a16:creationId xmlns:a16="http://schemas.microsoft.com/office/drawing/2014/main" id="{A00E1DC5-65F0-4BBC-8725-5911EDF888C2}"/>
                </a:ext>
              </a:extLst>
            </p:cNvPr>
            <p:cNvSpPr txBox="1">
              <a:spLocks/>
            </p:cNvSpPr>
            <p:nvPr/>
          </p:nvSpPr>
          <p:spPr>
            <a:xfrm>
              <a:off x="9444496" y="4578019"/>
              <a:ext cx="2060116" cy="52115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dirty="0"/>
                <a:t>香蕉</a:t>
              </a:r>
              <a:r>
                <a:rPr lang="en-US" altLang="zh-TW" dirty="0"/>
                <a:t>/29.jpg</a:t>
              </a:r>
              <a:endParaRPr lang="zh-TW" altLang="en-US" dirty="0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733AA0C0-96EF-4C46-B775-C6E21DDDB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368296"/>
            <a:ext cx="7437120" cy="4244730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1722ABFF-2B63-4F77-9967-7B78BDA86D33}"/>
              </a:ext>
            </a:extLst>
          </p:cNvPr>
          <p:cNvGrpSpPr/>
          <p:nvPr/>
        </p:nvGrpSpPr>
        <p:grpSpPr>
          <a:xfrm>
            <a:off x="7260006" y="4331722"/>
            <a:ext cx="1663014" cy="1700784"/>
            <a:chOff x="7843516" y="2152662"/>
            <a:chExt cx="3224092" cy="3276151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60CB62B3-54EF-4324-8E9E-9DF0BA683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3516" y="2152662"/>
              <a:ext cx="3224090" cy="2482222"/>
            </a:xfrm>
            <a:prstGeom prst="rect">
              <a:avLst/>
            </a:prstGeom>
          </p:spPr>
        </p:pic>
        <p:sp>
          <p:nvSpPr>
            <p:cNvPr id="8" name="內容版面配置區 2">
              <a:extLst>
                <a:ext uri="{FF2B5EF4-FFF2-40B4-BE49-F238E27FC236}">
                  <a16:creationId xmlns:a16="http://schemas.microsoft.com/office/drawing/2014/main" id="{7190782C-E3A4-4652-94D2-8311D1041A07}"/>
                </a:ext>
              </a:extLst>
            </p:cNvPr>
            <p:cNvSpPr txBox="1">
              <a:spLocks/>
            </p:cNvSpPr>
            <p:nvPr/>
          </p:nvSpPr>
          <p:spPr>
            <a:xfrm>
              <a:off x="7843518" y="4634884"/>
              <a:ext cx="3224090" cy="7939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TW" altLang="en-US" dirty="0"/>
                <a:t>香蕉</a:t>
              </a:r>
              <a:r>
                <a:rPr lang="en-US" altLang="zh-TW" dirty="0"/>
                <a:t>/1550.gif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6704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定義 </a:t>
            </a:r>
            <a:r>
              <a:rPr lang="en-US" altLang="zh-TW" dirty="0" err="1"/>
              <a:t>data_generator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6"/>
            <a:ext cx="8911687" cy="1478280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通過 </a:t>
            </a:r>
            <a:r>
              <a:rPr lang="en-US" altLang="zh-TW" dirty="0" err="1"/>
              <a:t>label_map</a:t>
            </a:r>
            <a:r>
              <a:rPr lang="en-US" altLang="zh-TW" dirty="0"/>
              <a:t> </a:t>
            </a:r>
            <a:r>
              <a:rPr lang="zh-TW" altLang="en-US" dirty="0"/>
              <a:t>得知該圖片類別的 </a:t>
            </a:r>
            <a:r>
              <a:rPr lang="en-US" altLang="zh-TW" dirty="0" err="1"/>
              <a:t>label_idx</a:t>
            </a:r>
            <a:endParaRPr lang="en-US" altLang="zh-TW" dirty="0"/>
          </a:p>
          <a:p>
            <a:r>
              <a:rPr lang="zh-TW" altLang="en-US" dirty="0"/>
              <a:t>接著透過開一條全 </a:t>
            </a:r>
            <a:r>
              <a:rPr lang="en-US" altLang="zh-TW" dirty="0"/>
              <a:t>0 </a:t>
            </a:r>
            <a:r>
              <a:rPr lang="zh-TW" altLang="en-US" dirty="0"/>
              <a:t>的 </a:t>
            </a:r>
            <a:r>
              <a:rPr lang="en-US" altLang="zh-TW" dirty="0" err="1"/>
              <a:t>np.array</a:t>
            </a:r>
            <a:r>
              <a:rPr lang="zh-TW" altLang="en-US" dirty="0"/>
              <a:t>，透過 </a:t>
            </a:r>
            <a:r>
              <a:rPr lang="en-US" altLang="zh-TW" dirty="0" err="1"/>
              <a:t>label_idx</a:t>
            </a:r>
            <a:r>
              <a:rPr lang="zh-TW" altLang="en-US" dirty="0"/>
              <a:t> 將 </a:t>
            </a:r>
            <a:r>
              <a:rPr lang="en-US" altLang="zh-TW" dirty="0"/>
              <a:t>label </a:t>
            </a:r>
            <a:r>
              <a:rPr lang="zh-TW" altLang="en-US" dirty="0"/>
              <a:t>轉成 </a:t>
            </a:r>
            <a:r>
              <a:rPr lang="en-US" altLang="zh-TW" dirty="0"/>
              <a:t>one-hot</a:t>
            </a:r>
          </a:p>
          <a:p>
            <a:r>
              <a:rPr lang="zh-TW" altLang="en-US" dirty="0"/>
              <a:t>最後回傳當前 </a:t>
            </a:r>
            <a:r>
              <a:rPr lang="en-US" altLang="zh-TW" dirty="0"/>
              <a:t>batch</a:t>
            </a:r>
            <a:r>
              <a:rPr lang="zh-TW" altLang="en-US" dirty="0"/>
              <a:t> 的 </a:t>
            </a:r>
            <a:r>
              <a:rPr lang="en-US" altLang="zh-TW" dirty="0"/>
              <a:t>data</a:t>
            </a:r>
            <a:r>
              <a:rPr lang="zh-TW" altLang="en-US" dirty="0"/>
              <a:t>、</a:t>
            </a:r>
            <a:r>
              <a:rPr lang="en-US" altLang="zh-TW" dirty="0"/>
              <a:t>label </a:t>
            </a:r>
          </a:p>
          <a:p>
            <a:pPr marL="0" indent="0">
              <a:buNone/>
            </a:pPr>
            <a:r>
              <a:rPr lang="zh-TW" altLang="en-US" dirty="0"/>
              <a:t>     </a:t>
            </a:r>
            <a:r>
              <a:rPr lang="en-US" altLang="zh-TW" dirty="0"/>
              <a:t>(</a:t>
            </a:r>
            <a:r>
              <a:rPr lang="zh-TW" altLang="en-US" dirty="0"/>
              <a:t>因為是生成器，所以使用</a:t>
            </a:r>
            <a:r>
              <a:rPr lang="en-US" altLang="zh-TW" dirty="0"/>
              <a:t>yield</a:t>
            </a:r>
            <a:r>
              <a:rPr lang="zh-TW" altLang="en-US" dirty="0"/>
              <a:t>，才能 </a:t>
            </a:r>
            <a:r>
              <a:rPr lang="en-US" altLang="zh-TW" dirty="0"/>
              <a:t>1 batch 1 batch</a:t>
            </a:r>
            <a:r>
              <a:rPr lang="zh-TW" altLang="en-US" dirty="0"/>
              <a:t> 的一直往下用</a:t>
            </a:r>
            <a:r>
              <a:rPr lang="en-US" altLang="zh-TW" dirty="0"/>
              <a:t>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0C8FF51-B650-487E-A78E-5322861E0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970" y="3144994"/>
            <a:ext cx="5268060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73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88721-2AF6-457B-AE3C-350729BE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277" y="2827814"/>
            <a:ext cx="4265075" cy="1689322"/>
          </a:xfrm>
        </p:spPr>
        <p:txBody>
          <a:bodyPr>
            <a:noAutofit/>
          </a:bodyPr>
          <a:lstStyle/>
          <a:p>
            <a:r>
              <a:rPr lang="zh-TW" altLang="en-US" sz="7200" dirty="0"/>
              <a:t>模型設計</a:t>
            </a:r>
            <a:endParaRPr lang="en-US" altLang="zh-TW" sz="7200" dirty="0"/>
          </a:p>
        </p:txBody>
      </p:sp>
    </p:spTree>
    <p:extLst>
      <p:ext uri="{BB962C8B-B14F-4D97-AF65-F5344CB8AC3E}">
        <p14:creationId xmlns:p14="http://schemas.microsoft.com/office/powerpoint/2010/main" val="2685775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 err="1"/>
              <a:t>EfficientNet</a:t>
            </a:r>
            <a:r>
              <a:rPr lang="en-US" altLang="zh-TW" dirty="0"/>
              <a:t> B0</a:t>
            </a:r>
            <a:r>
              <a:rPr lang="zh-TW" altLang="en-US" dirty="0"/>
              <a:t> 作為 </a:t>
            </a:r>
            <a:r>
              <a:rPr lang="en-US" altLang="zh-TW" dirty="0"/>
              <a:t>base </a:t>
            </a:r>
            <a:r>
              <a:rPr lang="en-US" altLang="zh-TW" dirty="0" err="1"/>
              <a:t>mdoel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6"/>
            <a:ext cx="8911687" cy="838200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Include_top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False</a:t>
            </a:r>
            <a:r>
              <a:rPr lang="zh-TW" altLang="en-US" dirty="0"/>
              <a:t>，將輸出層拿掉</a:t>
            </a:r>
            <a:endParaRPr lang="en-US" altLang="zh-TW" dirty="0"/>
          </a:p>
          <a:p>
            <a:r>
              <a:rPr lang="en-US" altLang="zh-TW" dirty="0" err="1"/>
              <a:t>Base_model.trainable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True</a:t>
            </a:r>
            <a:r>
              <a:rPr lang="zh-TW" altLang="en-US" dirty="0"/>
              <a:t>，讓模型可以根據我的資料集更貼合的學習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4C0798-592C-4520-90CC-2B58EDED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224" y="2746248"/>
            <a:ext cx="871659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42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以 </a:t>
            </a:r>
            <a:r>
              <a:rPr lang="en-US" altLang="zh-TW" dirty="0"/>
              <a:t>base model </a:t>
            </a:r>
            <a:r>
              <a:rPr lang="zh-TW" altLang="en-US" dirty="0"/>
              <a:t>為底，建立自己的 </a:t>
            </a:r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5"/>
            <a:ext cx="8911687" cy="1199531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Base_model</a:t>
            </a:r>
            <a:r>
              <a:rPr lang="zh-TW" altLang="en-US" dirty="0"/>
              <a:t> 加入後，加入</a:t>
            </a:r>
            <a:r>
              <a:rPr lang="en-US" altLang="zh-TW" dirty="0"/>
              <a:t> pooling</a:t>
            </a:r>
            <a:r>
              <a:rPr lang="zh-TW" altLang="en-US" dirty="0"/>
              <a:t> </a:t>
            </a:r>
            <a:r>
              <a:rPr lang="en-US" altLang="zh-TW" dirty="0"/>
              <a:t>layer</a:t>
            </a:r>
            <a:r>
              <a:rPr lang="zh-TW" altLang="en-US" dirty="0"/>
              <a:t> 減少訓練負擔</a:t>
            </a:r>
            <a:endParaRPr lang="en-US" altLang="zh-TW" dirty="0"/>
          </a:p>
          <a:p>
            <a:r>
              <a:rPr lang="zh-TW" altLang="en-US" dirty="0"/>
              <a:t>增加 </a:t>
            </a:r>
            <a:r>
              <a:rPr lang="en-US" altLang="zh-TW" dirty="0"/>
              <a:t>drop out </a:t>
            </a:r>
            <a:r>
              <a:rPr lang="zh-TW" altLang="en-US" dirty="0"/>
              <a:t>和 </a:t>
            </a:r>
            <a:r>
              <a:rPr lang="en-US" altLang="zh-TW" dirty="0"/>
              <a:t>L2 </a:t>
            </a:r>
            <a:r>
              <a:rPr lang="zh-TW" altLang="en-US" dirty="0"/>
              <a:t>正規化，希望能降低 </a:t>
            </a:r>
            <a:r>
              <a:rPr lang="en-US" altLang="zh-TW" dirty="0"/>
              <a:t>overfit</a:t>
            </a:r>
            <a:r>
              <a:rPr lang="zh-TW" altLang="en-US" dirty="0"/>
              <a:t> 程度</a:t>
            </a:r>
            <a:endParaRPr lang="en-US" altLang="zh-TW" dirty="0"/>
          </a:p>
          <a:p>
            <a:r>
              <a:rPr lang="zh-TW" altLang="en-US" dirty="0"/>
              <a:t>使用 </a:t>
            </a:r>
            <a:r>
              <a:rPr lang="en-US" altLang="zh-TW" dirty="0" err="1"/>
              <a:t>adam</a:t>
            </a:r>
            <a:r>
              <a:rPr lang="zh-TW" altLang="en-US" dirty="0"/>
              <a:t> 作為 </a:t>
            </a:r>
            <a:r>
              <a:rPr lang="en-US" altLang="zh-TW" dirty="0"/>
              <a:t>optimizer </a:t>
            </a:r>
            <a:r>
              <a:rPr lang="zh-TW" altLang="en-US" dirty="0"/>
              <a:t>，並在衡量指標加入 </a:t>
            </a:r>
            <a:r>
              <a:rPr lang="en-US" altLang="zh-TW" dirty="0"/>
              <a:t>top-5-accuracy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999AEA2-2875-40FC-A907-D8B686F7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184" y="2815284"/>
            <a:ext cx="9269119" cy="164805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B42C64F-597D-445B-8FFD-87C5502F2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745" y="4594716"/>
            <a:ext cx="8545118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10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模型 </a:t>
            </a:r>
            <a:r>
              <a:rPr lang="en-US" altLang="zh-TW" dirty="0"/>
              <a:t>summary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EDAF416-0E47-4048-816F-21B21CF4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685681"/>
            <a:ext cx="7497221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42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en-US" altLang="zh-TW" dirty="0"/>
              <a:t>Learning Rate</a:t>
            </a:r>
            <a:r>
              <a:rPr lang="zh-TW" altLang="en-US" dirty="0"/>
              <a:t> 設計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6"/>
            <a:ext cx="9105964" cy="838200"/>
          </a:xfrm>
        </p:spPr>
        <p:txBody>
          <a:bodyPr>
            <a:normAutofit/>
          </a:bodyPr>
          <a:lstStyle/>
          <a:p>
            <a:r>
              <a:rPr lang="en-US" altLang="zh-TW" dirty="0"/>
              <a:t>LR</a:t>
            </a:r>
            <a:r>
              <a:rPr lang="zh-TW" altLang="en-US" dirty="0"/>
              <a:t> 起始值為 </a:t>
            </a:r>
            <a:r>
              <a:rPr lang="en-US" altLang="zh-TW" dirty="0"/>
              <a:t>0.01</a:t>
            </a:r>
            <a:r>
              <a:rPr lang="zh-TW" altLang="en-US" dirty="0"/>
              <a:t>，若經過 </a:t>
            </a:r>
            <a:r>
              <a:rPr lang="en-US" altLang="zh-TW" dirty="0"/>
              <a:t>3</a:t>
            </a:r>
            <a:r>
              <a:rPr lang="zh-TW" altLang="en-US" dirty="0"/>
              <a:t> </a:t>
            </a:r>
            <a:r>
              <a:rPr lang="en-US" altLang="zh-TW" dirty="0" err="1"/>
              <a:t>epoches</a:t>
            </a:r>
            <a:r>
              <a:rPr lang="zh-TW" altLang="en-US" dirty="0"/>
              <a:t>，</a:t>
            </a:r>
            <a:r>
              <a:rPr lang="en-US" altLang="zh-TW" dirty="0" err="1"/>
              <a:t>val_loss</a:t>
            </a:r>
            <a:r>
              <a:rPr lang="zh-TW" altLang="en-US" dirty="0"/>
              <a:t> 沒有降低，就調降 </a:t>
            </a:r>
            <a:r>
              <a:rPr lang="en-US" altLang="zh-TW" dirty="0"/>
              <a:t>LR</a:t>
            </a:r>
            <a:r>
              <a:rPr lang="zh-TW" altLang="en-US" dirty="0"/>
              <a:t> 成原本的一半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206D82-D4B4-462E-AE04-C8B239DB8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259" y="2973107"/>
            <a:ext cx="5601482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4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模型訓練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F12684-EC26-4E52-9B37-D1D79F2FB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4376"/>
            <a:ext cx="9105964" cy="1103376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使用 </a:t>
            </a:r>
            <a:r>
              <a:rPr lang="en-US" altLang="zh-TW" dirty="0" err="1"/>
              <a:t>data_generator</a:t>
            </a:r>
            <a:r>
              <a:rPr lang="zh-TW" altLang="en-US" dirty="0"/>
              <a:t> 產生 </a:t>
            </a:r>
            <a:r>
              <a:rPr lang="en-US" altLang="zh-TW" dirty="0" err="1"/>
              <a:t>train_gen</a:t>
            </a:r>
            <a:r>
              <a:rPr lang="zh-TW" altLang="en-US" dirty="0"/>
              <a:t>、</a:t>
            </a:r>
            <a:r>
              <a:rPr lang="en-US" altLang="zh-TW" dirty="0" err="1"/>
              <a:t>valid_gen</a:t>
            </a:r>
            <a:r>
              <a:rPr lang="en-US" altLang="zh-TW" dirty="0"/>
              <a:t> (batch size</a:t>
            </a:r>
            <a:r>
              <a:rPr lang="zh-TW" altLang="en-US" dirty="0"/>
              <a:t> 為 </a:t>
            </a:r>
            <a:r>
              <a:rPr lang="en-US" altLang="zh-TW" dirty="0"/>
              <a:t>32)</a:t>
            </a:r>
          </a:p>
          <a:p>
            <a:r>
              <a:rPr lang="zh-TW" altLang="en-US" dirty="0"/>
              <a:t>將 </a:t>
            </a:r>
            <a:r>
              <a:rPr lang="en-US" altLang="zh-TW" dirty="0" err="1"/>
              <a:t>train_gen</a:t>
            </a:r>
            <a:r>
              <a:rPr lang="zh-TW" altLang="en-US" dirty="0"/>
              <a:t>、</a:t>
            </a:r>
            <a:r>
              <a:rPr lang="en-US" altLang="zh-TW" dirty="0" err="1"/>
              <a:t>valid_gen</a:t>
            </a:r>
            <a:r>
              <a:rPr lang="zh-TW" altLang="en-US" dirty="0"/>
              <a:t> </a:t>
            </a:r>
            <a:r>
              <a:rPr lang="en-US" altLang="zh-TW" dirty="0"/>
              <a:t>fit</a:t>
            </a:r>
            <a:r>
              <a:rPr lang="zh-TW" altLang="en-US" dirty="0"/>
              <a:t> 到模型，訓練 </a:t>
            </a:r>
            <a:r>
              <a:rPr lang="en-US" altLang="zh-TW" dirty="0"/>
              <a:t>30</a:t>
            </a:r>
            <a:r>
              <a:rPr lang="zh-TW" altLang="en-US" dirty="0"/>
              <a:t> </a:t>
            </a:r>
            <a:r>
              <a:rPr lang="en-US" altLang="zh-TW" dirty="0" err="1"/>
              <a:t>epoches</a:t>
            </a:r>
            <a:endParaRPr lang="en-US" altLang="zh-TW" dirty="0"/>
          </a:p>
          <a:p>
            <a:r>
              <a:rPr lang="zh-TW" altLang="en-US" dirty="0"/>
              <a:t>利用 </a:t>
            </a:r>
            <a:r>
              <a:rPr lang="en-US" altLang="zh-TW" dirty="0" err="1"/>
              <a:t>start_time</a:t>
            </a:r>
            <a:r>
              <a:rPr lang="en-US" altLang="zh-TW" dirty="0"/>
              <a:t>, </a:t>
            </a:r>
            <a:r>
              <a:rPr lang="en-US" altLang="zh-TW" dirty="0" err="1"/>
              <a:t>end_time</a:t>
            </a:r>
            <a:r>
              <a:rPr lang="zh-TW" altLang="en-US" dirty="0"/>
              <a:t> 紀錄訓練時長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E1C619-F2A2-4B86-AD17-76F047305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428" y="2618232"/>
            <a:ext cx="10536120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67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88721-2AF6-457B-AE3C-350729BE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277" y="2827814"/>
            <a:ext cx="4265075" cy="1689322"/>
          </a:xfrm>
        </p:spPr>
        <p:txBody>
          <a:bodyPr>
            <a:noAutofit/>
          </a:bodyPr>
          <a:lstStyle/>
          <a:p>
            <a:r>
              <a:rPr lang="zh-TW" altLang="en-US" sz="7200" dirty="0"/>
              <a:t>結果分析</a:t>
            </a:r>
            <a:endParaRPr lang="en-US" altLang="zh-TW" sz="7200" dirty="0"/>
          </a:p>
        </p:txBody>
      </p:sp>
    </p:spTree>
    <p:extLst>
      <p:ext uri="{BB962C8B-B14F-4D97-AF65-F5344CB8AC3E}">
        <p14:creationId xmlns:p14="http://schemas.microsoft.com/office/powerpoint/2010/main" val="985972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訓練時長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103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30</a:t>
            </a:r>
            <a:r>
              <a:rPr lang="zh-TW" altLang="en-US" dirty="0"/>
              <a:t> </a:t>
            </a:r>
            <a:r>
              <a:rPr lang="en-US" altLang="zh-TW" dirty="0"/>
              <a:t>epochs </a:t>
            </a:r>
            <a:r>
              <a:rPr lang="zh-TW" altLang="en-US" dirty="0"/>
              <a:t>訓練 </a:t>
            </a:r>
            <a:r>
              <a:rPr lang="en-US" altLang="zh-TW" dirty="0"/>
              <a:t>6 </a:t>
            </a:r>
            <a:r>
              <a:rPr lang="en-US" altLang="zh-TW" dirty="0" err="1"/>
              <a:t>hr</a:t>
            </a:r>
            <a:r>
              <a:rPr lang="en-US" altLang="zh-TW" dirty="0"/>
              <a:t> 9 min</a:t>
            </a:r>
            <a:r>
              <a:rPr lang="zh-TW" altLang="en-US" dirty="0"/>
              <a:t>，平均一個 </a:t>
            </a:r>
            <a:r>
              <a:rPr lang="en-US" altLang="zh-TW" dirty="0"/>
              <a:t>epoch </a:t>
            </a:r>
            <a:r>
              <a:rPr lang="zh-TW" altLang="en-US" dirty="0"/>
              <a:t>要訓練 </a:t>
            </a:r>
            <a:r>
              <a:rPr lang="en-US" altLang="zh-TW" dirty="0"/>
              <a:t>12.3</a:t>
            </a:r>
            <a:r>
              <a:rPr lang="zh-TW" altLang="en-US" dirty="0"/>
              <a:t> </a:t>
            </a:r>
            <a:r>
              <a:rPr lang="en-US" altLang="zh-TW" dirty="0"/>
              <a:t>min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0FEDD4D9-8610-42D4-9511-6BB7FD4B1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4415"/>
            <a:ext cx="12192000" cy="165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8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en-US" altLang="zh-TW" dirty="0"/>
              <a:t>Loss curve &amp; Accuracy curve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7"/>
            <a:ext cx="9105964" cy="73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註：畫圖的 </a:t>
            </a:r>
            <a:r>
              <a:rPr lang="en-US" altLang="zh-TW" dirty="0"/>
              <a:t>code</a:t>
            </a:r>
            <a:r>
              <a:rPr lang="zh-TW" altLang="en-US" dirty="0"/>
              <a:t> 都長差不多，故不附上</a:t>
            </a:r>
            <a:endParaRPr lang="en-US" altLang="zh-TW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064B6FF-258A-4ABF-928D-4023FB42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7" y="2221993"/>
            <a:ext cx="11074647" cy="428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68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計算 </a:t>
            </a:r>
            <a:r>
              <a:rPr lang="en-US" altLang="zh-TW" dirty="0"/>
              <a:t>Top 1 </a:t>
            </a:r>
            <a:r>
              <a:rPr lang="zh-TW" altLang="en-US" dirty="0"/>
              <a:t>正確預測數量 </a:t>
            </a:r>
            <a:r>
              <a:rPr lang="en-US" altLang="zh-TW" dirty="0"/>
              <a:t>(Val data)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803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透過 </a:t>
            </a:r>
            <a:r>
              <a:rPr lang="en-US" altLang="zh-TW" dirty="0" err="1"/>
              <a:t>np.argmax</a:t>
            </a:r>
            <a:r>
              <a:rPr lang="zh-TW" altLang="en-US" dirty="0"/>
              <a:t> 將 </a:t>
            </a:r>
            <a:r>
              <a:rPr lang="en-US" altLang="zh-TW" dirty="0" err="1"/>
              <a:t>valid_prediction</a:t>
            </a:r>
            <a:r>
              <a:rPr lang="zh-TW" altLang="en-US" dirty="0"/>
              <a:t> 從 </a:t>
            </a:r>
            <a:r>
              <a:rPr lang="en-US" altLang="zh-TW" dirty="0"/>
              <a:t>32(batch)</a:t>
            </a:r>
            <a:r>
              <a:rPr lang="zh-TW" altLang="en-US" dirty="0"/>
              <a:t>*</a:t>
            </a:r>
            <a:r>
              <a:rPr lang="en-US" altLang="zh-TW" dirty="0"/>
              <a:t>50</a:t>
            </a:r>
            <a:r>
              <a:rPr lang="zh-TW" altLang="en-US" dirty="0"/>
              <a:t> 轉成 </a:t>
            </a:r>
            <a:r>
              <a:rPr lang="en-US" altLang="zh-TW" dirty="0"/>
              <a:t>32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只留預測 </a:t>
            </a:r>
            <a:r>
              <a:rPr lang="en-US" altLang="zh-TW" dirty="0"/>
              <a:t>label)</a:t>
            </a:r>
          </a:p>
          <a:p>
            <a:r>
              <a:rPr lang="en-US" altLang="zh-TW" dirty="0" err="1"/>
              <a:t>True_label</a:t>
            </a:r>
            <a:r>
              <a:rPr lang="zh-TW" altLang="en-US" dirty="0"/>
              <a:t>做同樣處理，也變成 </a:t>
            </a:r>
            <a:r>
              <a:rPr lang="en-US" altLang="zh-TW" dirty="0"/>
              <a:t>32</a:t>
            </a:r>
            <a:r>
              <a:rPr lang="zh-TW" altLang="en-US" dirty="0"/>
              <a:t>*</a:t>
            </a:r>
            <a:r>
              <a:rPr lang="en-US" altLang="zh-TW" dirty="0"/>
              <a:t>1</a:t>
            </a:r>
            <a:r>
              <a:rPr lang="zh-TW" altLang="en-US" dirty="0"/>
              <a:t> 的 </a:t>
            </a:r>
            <a:r>
              <a:rPr lang="en-US" altLang="zh-TW" dirty="0" err="1"/>
              <a:t>np.array</a:t>
            </a:r>
            <a:endParaRPr lang="en-US" altLang="zh-TW" dirty="0"/>
          </a:p>
          <a:p>
            <a:r>
              <a:rPr lang="zh-TW" altLang="en-US" dirty="0"/>
              <a:t>接著比較兩條</a:t>
            </a:r>
            <a:r>
              <a:rPr lang="en-US" altLang="zh-TW" dirty="0"/>
              <a:t> array</a:t>
            </a:r>
            <a:r>
              <a:rPr lang="zh-TW" altLang="en-US" dirty="0"/>
              <a:t> 的各 </a:t>
            </a:r>
            <a:r>
              <a:rPr lang="en-US" altLang="zh-TW" dirty="0" err="1"/>
              <a:t>idx</a:t>
            </a:r>
            <a:r>
              <a:rPr lang="zh-TW" altLang="en-US" dirty="0"/>
              <a:t>，若相同則代表預測成功</a:t>
            </a:r>
            <a:endParaRPr lang="en-US" altLang="zh-TW" dirty="0"/>
          </a:p>
          <a:p>
            <a:r>
              <a:rPr lang="zh-TW" altLang="en-US" dirty="0"/>
              <a:t>將一個 </a:t>
            </a:r>
            <a:r>
              <a:rPr lang="en-US" altLang="zh-TW" dirty="0"/>
              <a:t>batch (32</a:t>
            </a:r>
            <a:r>
              <a:rPr lang="zh-TW" altLang="en-US" dirty="0"/>
              <a:t>筆</a:t>
            </a:r>
            <a:r>
              <a:rPr lang="en-US" altLang="zh-TW" dirty="0"/>
              <a:t>)</a:t>
            </a:r>
            <a:r>
              <a:rPr lang="zh-TW" altLang="en-US" dirty="0"/>
              <a:t> 的成功數 </a:t>
            </a:r>
            <a:r>
              <a:rPr lang="en-US" altLang="zh-TW" dirty="0"/>
              <a:t>sum up</a:t>
            </a:r>
            <a:r>
              <a:rPr lang="zh-TW" altLang="en-US" dirty="0"/>
              <a:t>，再將不同 </a:t>
            </a:r>
            <a:r>
              <a:rPr lang="en-US" altLang="zh-TW" dirty="0"/>
              <a:t>batches</a:t>
            </a:r>
            <a:r>
              <a:rPr lang="zh-TW" altLang="en-US" dirty="0"/>
              <a:t> 間的成功數累加出來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2B4D92-7884-4678-A562-AB97EC5A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287964"/>
            <a:ext cx="7742185" cy="294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79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計算 </a:t>
            </a:r>
            <a:r>
              <a:rPr lang="en-US" altLang="zh-TW" dirty="0"/>
              <a:t>Top 5 </a:t>
            </a:r>
            <a:r>
              <a:rPr lang="zh-TW" altLang="en-US" dirty="0"/>
              <a:t>正確預測數量</a:t>
            </a:r>
            <a:r>
              <a:rPr lang="en-US" altLang="zh-TW" dirty="0"/>
              <a:t> (Val data)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803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透過 </a:t>
            </a:r>
            <a:r>
              <a:rPr lang="en-US" altLang="zh-TW" dirty="0" err="1"/>
              <a:t>np.argsort</a:t>
            </a:r>
            <a:r>
              <a:rPr lang="zh-TW" altLang="en-US" dirty="0"/>
              <a:t> 把 </a:t>
            </a:r>
            <a:r>
              <a:rPr lang="en-US" altLang="zh-TW" dirty="0" err="1"/>
              <a:t>valid_predictio</a:t>
            </a:r>
            <a:r>
              <a:rPr lang="zh-TW" altLang="en-US" dirty="0"/>
              <a:t> 升冪排序</a:t>
            </a:r>
            <a:endParaRPr lang="en-US" altLang="zh-TW" dirty="0"/>
          </a:p>
          <a:p>
            <a:r>
              <a:rPr lang="zh-TW" altLang="en-US" dirty="0"/>
              <a:t>排序後的 </a:t>
            </a:r>
            <a:r>
              <a:rPr lang="en-US" altLang="zh-TW" dirty="0"/>
              <a:t>array </a:t>
            </a:r>
            <a:r>
              <a:rPr lang="zh-TW" altLang="en-US" dirty="0"/>
              <a:t>中，</a:t>
            </a:r>
            <a:r>
              <a:rPr lang="en-US" altLang="zh-TW" dirty="0"/>
              <a:t>batch</a:t>
            </a:r>
            <a:r>
              <a:rPr lang="zh-TW" altLang="en-US" dirty="0"/>
              <a:t> 中每個都取後 </a:t>
            </a:r>
            <a:r>
              <a:rPr lang="en-US" altLang="zh-TW" dirty="0"/>
              <a:t>5</a:t>
            </a:r>
            <a:r>
              <a:rPr lang="zh-TW" altLang="en-US" dirty="0"/>
              <a:t> 個</a:t>
            </a:r>
            <a:r>
              <a:rPr lang="en-US" altLang="zh-TW" dirty="0"/>
              <a:t>(</a:t>
            </a:r>
            <a:r>
              <a:rPr lang="zh-TW" altLang="en-US" dirty="0"/>
              <a:t>代表前五可能</a:t>
            </a:r>
            <a:r>
              <a:rPr lang="en-US" altLang="zh-TW" dirty="0"/>
              <a:t>)</a:t>
            </a:r>
            <a:r>
              <a:rPr lang="zh-TW" altLang="en-US" dirty="0"/>
              <a:t> 的 </a:t>
            </a:r>
            <a:r>
              <a:rPr lang="en-US" altLang="zh-TW" dirty="0"/>
              <a:t>label</a:t>
            </a:r>
          </a:p>
          <a:p>
            <a:r>
              <a:rPr lang="zh-TW" altLang="en-US" dirty="0"/>
              <a:t>拿 </a:t>
            </a:r>
            <a:r>
              <a:rPr lang="en-US" altLang="zh-TW" dirty="0" err="1"/>
              <a:t>true_label</a:t>
            </a:r>
            <a:r>
              <a:rPr lang="en-US" altLang="zh-TW" dirty="0"/>
              <a:t> </a:t>
            </a:r>
            <a:r>
              <a:rPr lang="zh-TW" altLang="en-US" dirty="0"/>
              <a:t>和前五可能的 </a:t>
            </a:r>
            <a:r>
              <a:rPr lang="en-US" altLang="zh-TW" dirty="0"/>
              <a:t>label</a:t>
            </a:r>
            <a:r>
              <a:rPr lang="zh-TW" altLang="en-US" dirty="0"/>
              <a:t> 比較，若有找到，則預測成功</a:t>
            </a:r>
            <a:endParaRPr lang="en-US" altLang="zh-TW" dirty="0"/>
          </a:p>
          <a:p>
            <a:r>
              <a:rPr lang="zh-TW" altLang="en-US" dirty="0"/>
              <a:t>將一個 </a:t>
            </a:r>
            <a:r>
              <a:rPr lang="en-US" altLang="zh-TW" dirty="0"/>
              <a:t>batch (32</a:t>
            </a:r>
            <a:r>
              <a:rPr lang="zh-TW" altLang="en-US" dirty="0"/>
              <a:t>筆</a:t>
            </a:r>
            <a:r>
              <a:rPr lang="en-US" altLang="zh-TW" dirty="0"/>
              <a:t>)</a:t>
            </a:r>
            <a:r>
              <a:rPr lang="zh-TW" altLang="en-US" dirty="0"/>
              <a:t> 的成功數 </a:t>
            </a:r>
            <a:r>
              <a:rPr lang="en-US" altLang="zh-TW" dirty="0"/>
              <a:t>sum up</a:t>
            </a:r>
            <a:r>
              <a:rPr lang="zh-TW" altLang="en-US" dirty="0"/>
              <a:t>，再將不同 </a:t>
            </a:r>
            <a:r>
              <a:rPr lang="en-US" altLang="zh-TW" dirty="0"/>
              <a:t>batches</a:t>
            </a:r>
            <a:r>
              <a:rPr lang="zh-TW" altLang="en-US" dirty="0"/>
              <a:t> 間的成功數累加出來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6F243A-BBEA-4174-9016-F8F82E77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214878"/>
            <a:ext cx="8041810" cy="285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58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14595" cy="66519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計算 </a:t>
            </a:r>
            <a:r>
              <a:rPr lang="en-US" altLang="zh-TW" dirty="0"/>
              <a:t>Top 1,5 acc &amp;</a:t>
            </a:r>
            <a:r>
              <a:rPr lang="zh-TW" altLang="en-US" dirty="0"/>
              <a:t> </a:t>
            </a:r>
            <a:r>
              <a:rPr lang="en-US" altLang="zh-TW" dirty="0"/>
              <a:t>Confusion Matrix(Val data)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791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透過 </a:t>
            </a:r>
            <a:r>
              <a:rPr lang="en-US" altLang="zh-TW" dirty="0"/>
              <a:t>Top 1, 5</a:t>
            </a:r>
            <a:r>
              <a:rPr lang="zh-TW" altLang="en-US" dirty="0"/>
              <a:t> 的正確預測數除以總數，算出正確率</a:t>
            </a:r>
            <a:endParaRPr lang="en-US" altLang="zh-TW" dirty="0"/>
          </a:p>
          <a:p>
            <a:r>
              <a:rPr lang="zh-TW" altLang="en-US" dirty="0"/>
              <a:t>透過 </a:t>
            </a:r>
            <a:r>
              <a:rPr lang="en-US" altLang="zh-TW" dirty="0" err="1"/>
              <a:t>confusion_matrix</a:t>
            </a:r>
            <a:r>
              <a:rPr lang="en-US" altLang="zh-TW" dirty="0"/>
              <a:t>()</a:t>
            </a:r>
            <a:r>
              <a:rPr lang="zh-TW" altLang="en-US" dirty="0"/>
              <a:t> 製作混淆矩陣，並印出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25F419-7184-4DBA-8219-FB43F516B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469" y="2417701"/>
            <a:ext cx="6370319" cy="413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69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實驗結果 </a:t>
            </a:r>
            <a:r>
              <a:rPr lang="en-US" altLang="zh-TW" dirty="0"/>
              <a:t>(Val data)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1968482" y="1218184"/>
            <a:ext cx="4436714" cy="2937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註：當時 </a:t>
            </a:r>
            <a:r>
              <a:rPr lang="en-US" altLang="zh-TW" dirty="0"/>
              <a:t>model</a:t>
            </a:r>
            <a:r>
              <a:rPr lang="zh-TW" altLang="en-US" dirty="0"/>
              <a:t> 沒有跑這段，這是之後補做的實驗</a:t>
            </a:r>
            <a:r>
              <a:rPr lang="en-US" altLang="zh-TW" dirty="0"/>
              <a:t>(1</a:t>
            </a:r>
            <a:r>
              <a:rPr lang="zh-TW" altLang="en-US" dirty="0"/>
              <a:t> </a:t>
            </a:r>
            <a:r>
              <a:rPr lang="en-US" altLang="zh-TW" dirty="0" err="1"/>
              <a:t>epoches</a:t>
            </a:r>
            <a:r>
              <a:rPr lang="zh-TW" altLang="en-US" dirty="0"/>
              <a:t>，其他參數一樣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endParaRPr lang="en-US" altLang="zh-TW" dirty="0"/>
          </a:p>
          <a:p>
            <a:r>
              <a:rPr lang="zh-TW" altLang="en-US" dirty="0"/>
              <a:t>我原本想在 </a:t>
            </a:r>
            <a:r>
              <a:rPr lang="en-US" altLang="zh-TW" dirty="0"/>
              <a:t>deadline </a:t>
            </a:r>
            <a:r>
              <a:rPr lang="zh-TW" altLang="en-US" dirty="0"/>
              <a:t>前 </a:t>
            </a:r>
            <a:r>
              <a:rPr lang="en-US" altLang="zh-TW" dirty="0"/>
              <a:t>train</a:t>
            </a:r>
            <a:r>
              <a:rPr lang="zh-TW" altLang="en-US" dirty="0"/>
              <a:t> 出來，但 </a:t>
            </a:r>
            <a:r>
              <a:rPr lang="en-US" altLang="zh-TW" dirty="0"/>
              <a:t>train </a:t>
            </a:r>
            <a:r>
              <a:rPr lang="zh-TW" altLang="en-US" dirty="0"/>
              <a:t>到 </a:t>
            </a:r>
            <a:r>
              <a:rPr lang="en-US" altLang="zh-TW" dirty="0"/>
              <a:t>13</a:t>
            </a:r>
            <a:r>
              <a:rPr lang="zh-TW" altLang="en-US" dirty="0"/>
              <a:t> </a:t>
            </a:r>
            <a:r>
              <a:rPr lang="en-US" altLang="zh-TW" dirty="0" err="1"/>
              <a:t>epoches</a:t>
            </a:r>
            <a:r>
              <a:rPr lang="zh-TW" altLang="en-US" dirty="0"/>
              <a:t> 時網路突然斷掉，導致我 </a:t>
            </a:r>
            <a:r>
              <a:rPr lang="en-US" altLang="zh-TW" dirty="0"/>
              <a:t>session </a:t>
            </a:r>
            <a:r>
              <a:rPr lang="zh-TW" altLang="en-US" dirty="0"/>
              <a:t>直接結束，來不及升出完整版的</a:t>
            </a:r>
            <a:r>
              <a:rPr lang="en-US" altLang="zh-TW" dirty="0"/>
              <a:t>…</a:t>
            </a:r>
            <a:r>
              <a:rPr lang="zh-TW" altLang="en-US" dirty="0"/>
              <a:t>。但在做實驗的途中，這個指標都有幫助我進行一些判斷，只可惜當時都沒有截圖下來</a:t>
            </a:r>
            <a:r>
              <a:rPr lang="en-US" altLang="zh-TW" dirty="0"/>
              <a:t>QQ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4EBC25-4F37-4A8B-AC73-9BA89361E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2" y="3869747"/>
            <a:ext cx="11724640" cy="2472858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4926A0A-A6F7-4A75-8E51-6EBAE5614D0D}"/>
              </a:ext>
            </a:extLst>
          </p:cNvPr>
          <p:cNvSpPr txBox="1">
            <a:spLocks/>
          </p:cNvSpPr>
          <p:nvPr/>
        </p:nvSpPr>
        <p:spPr>
          <a:xfrm>
            <a:off x="1430686" y="6414464"/>
            <a:ext cx="5711508" cy="444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慘狀截圖 </a:t>
            </a:r>
            <a:r>
              <a:rPr lang="en-US" altLang="zh-TW" dirty="0"/>
              <a:t>(</a:t>
            </a:r>
            <a:r>
              <a:rPr lang="zh-TW" altLang="en-US" dirty="0"/>
              <a:t>用 </a:t>
            </a:r>
            <a:r>
              <a:rPr lang="en-US" altLang="zh-TW" dirty="0" err="1"/>
              <a:t>Vscode</a:t>
            </a:r>
            <a:r>
              <a:rPr lang="zh-TW" altLang="en-US" dirty="0"/>
              <a:t> 開的所以背景顏色不一樣</a:t>
            </a:r>
            <a:r>
              <a:rPr lang="en-US" altLang="zh-TW" dirty="0"/>
              <a:t>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28DF0C1-31F3-4F3D-9EEC-FD31A8E5F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824" y="385952"/>
            <a:ext cx="2200582" cy="47631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959E857-7889-407A-9154-5A17F68EF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992" y="1100426"/>
            <a:ext cx="5249008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53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65" y="624110"/>
            <a:ext cx="4651155" cy="665194"/>
          </a:xfrm>
        </p:spPr>
        <p:txBody>
          <a:bodyPr/>
          <a:lstStyle/>
          <a:p>
            <a:r>
              <a:rPr lang="zh-TW" altLang="en-US" dirty="0"/>
              <a:t>實驗結果 </a:t>
            </a:r>
            <a:r>
              <a:rPr lang="en-US" altLang="zh-TW" dirty="0"/>
              <a:t>(Test data)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121852" y="1484376"/>
            <a:ext cx="4085908" cy="3067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註：同上，原本想弄一個完整的出來，但是網路突然斷掉</a:t>
            </a:r>
            <a:r>
              <a:rPr lang="en-US" altLang="zh-TW" dirty="0"/>
              <a:t>…</a:t>
            </a:r>
            <a:r>
              <a:rPr lang="zh-TW" altLang="en-US" dirty="0"/>
              <a:t>真的沒辦法，只能用 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epoch</a:t>
            </a:r>
            <a:r>
              <a:rPr lang="zh-TW" altLang="en-US" dirty="0"/>
              <a:t>的向你們展示有這個功能這樣。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5A15F1C-6889-445B-84C8-CE98CBBBE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51" y="624110"/>
            <a:ext cx="5249008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16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14595" cy="665194"/>
          </a:xfrm>
        </p:spPr>
        <p:txBody>
          <a:bodyPr>
            <a:normAutofit/>
          </a:bodyPr>
          <a:lstStyle/>
          <a:p>
            <a:r>
              <a:rPr lang="zh-TW" altLang="en-US" dirty="0"/>
              <a:t>計算 </a:t>
            </a:r>
            <a:r>
              <a:rPr lang="en-US" altLang="zh-TW" dirty="0"/>
              <a:t>AP</a:t>
            </a:r>
            <a:r>
              <a:rPr lang="zh-TW" altLang="en-US" dirty="0"/>
              <a:t>、</a:t>
            </a:r>
            <a:r>
              <a:rPr lang="en-US" altLang="zh-TW" dirty="0" err="1"/>
              <a:t>mAP</a:t>
            </a:r>
            <a:r>
              <a:rPr lang="en-US" altLang="zh-TW" dirty="0"/>
              <a:t> (Test data) - 1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517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將模型預測結果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true label </a:t>
            </a:r>
            <a:r>
              <a:rPr lang="zh-TW" altLang="en-US" dirty="0"/>
              <a:t>重組成 </a:t>
            </a:r>
            <a:r>
              <a:rPr lang="en-US" altLang="zh-TW" dirty="0"/>
              <a:t>N*50</a:t>
            </a:r>
            <a:r>
              <a:rPr lang="zh-TW" altLang="en-US" dirty="0"/>
              <a:t> 的</a:t>
            </a:r>
            <a:r>
              <a:rPr lang="en-US" altLang="zh-TW" dirty="0"/>
              <a:t> </a:t>
            </a:r>
            <a:r>
              <a:rPr lang="en-US" altLang="zh-TW" dirty="0" err="1"/>
              <a:t>np.array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41148E-C512-4361-9B2A-DF09A6D3E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37" y="2275840"/>
            <a:ext cx="7524823" cy="414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45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14595" cy="665194"/>
          </a:xfrm>
        </p:spPr>
        <p:txBody>
          <a:bodyPr>
            <a:normAutofit/>
          </a:bodyPr>
          <a:lstStyle/>
          <a:p>
            <a:r>
              <a:rPr lang="zh-TW" altLang="en-US" dirty="0"/>
              <a:t>計算 </a:t>
            </a:r>
            <a:r>
              <a:rPr lang="en-US" altLang="zh-TW" dirty="0"/>
              <a:t>AP</a:t>
            </a:r>
            <a:r>
              <a:rPr lang="zh-TW" altLang="en-US" dirty="0"/>
              <a:t>、</a:t>
            </a:r>
            <a:r>
              <a:rPr lang="en-US" altLang="zh-TW" dirty="0" err="1"/>
              <a:t>mAP</a:t>
            </a:r>
            <a:r>
              <a:rPr lang="en-US" altLang="zh-TW" dirty="0"/>
              <a:t> (Test data) - 2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147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在 </a:t>
            </a:r>
            <a:r>
              <a:rPr lang="en-US" altLang="zh-TW" dirty="0"/>
              <a:t>N</a:t>
            </a:r>
            <a:r>
              <a:rPr lang="zh-TW" altLang="en-US" dirty="0"/>
              <a:t>*</a:t>
            </a:r>
            <a:r>
              <a:rPr lang="en-US" altLang="zh-TW" dirty="0"/>
              <a:t>50</a:t>
            </a:r>
            <a:r>
              <a:rPr lang="zh-TW" altLang="en-US" dirty="0"/>
              <a:t> 的 </a:t>
            </a:r>
            <a:r>
              <a:rPr lang="en-US" altLang="zh-TW" dirty="0"/>
              <a:t>array </a:t>
            </a:r>
            <a:r>
              <a:rPr lang="zh-TW" altLang="en-US" dirty="0"/>
              <a:t>中，根據 </a:t>
            </a:r>
            <a:r>
              <a:rPr lang="en-US" altLang="zh-TW" dirty="0" err="1"/>
              <a:t>i</a:t>
            </a:r>
            <a:r>
              <a:rPr lang="en-US" altLang="zh-TW" dirty="0"/>
              <a:t> </a:t>
            </a:r>
            <a:r>
              <a:rPr lang="zh-TW" altLang="en-US" dirty="0"/>
              <a:t>從 </a:t>
            </a:r>
            <a:r>
              <a:rPr lang="en-US" altLang="zh-TW" dirty="0"/>
              <a:t>0~49 </a:t>
            </a:r>
            <a:r>
              <a:rPr lang="zh-TW" altLang="en-US" dirty="0"/>
              <a:t>來計算每個 </a:t>
            </a:r>
            <a:r>
              <a:rPr lang="en-US" altLang="zh-TW" dirty="0"/>
              <a:t>class</a:t>
            </a:r>
            <a:r>
              <a:rPr lang="zh-TW" altLang="en-US" dirty="0"/>
              <a:t> 的 </a:t>
            </a:r>
            <a:r>
              <a:rPr lang="en-US" altLang="zh-TW" dirty="0"/>
              <a:t>AP</a:t>
            </a:r>
          </a:p>
          <a:p>
            <a:r>
              <a:rPr lang="zh-TW" altLang="en-US" dirty="0"/>
              <a:t>透過 </a:t>
            </a:r>
            <a:r>
              <a:rPr lang="en-US" altLang="zh-TW" dirty="0" err="1"/>
              <a:t>average_precision_score</a:t>
            </a:r>
            <a:r>
              <a:rPr lang="en-US" altLang="zh-TW" dirty="0"/>
              <a:t>()</a:t>
            </a:r>
            <a:r>
              <a:rPr lang="zh-TW" altLang="en-US" dirty="0"/>
              <a:t> 計算 </a:t>
            </a:r>
            <a:r>
              <a:rPr lang="en-US" altLang="zh-TW" dirty="0"/>
              <a:t>AP</a:t>
            </a:r>
            <a:r>
              <a:rPr lang="zh-TW" altLang="en-US" dirty="0"/>
              <a:t>，再存回 </a:t>
            </a:r>
            <a:r>
              <a:rPr lang="en-US" altLang="zh-TW" dirty="0" err="1"/>
              <a:t>average_precisions</a:t>
            </a:r>
            <a:r>
              <a:rPr lang="zh-TW" altLang="en-US" dirty="0"/>
              <a:t> 陣列中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F981946-752E-44AD-A9A4-AE2A98C2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407" y="3145659"/>
            <a:ext cx="8526065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63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14595" cy="665194"/>
          </a:xfrm>
        </p:spPr>
        <p:txBody>
          <a:bodyPr>
            <a:normAutofit/>
          </a:bodyPr>
          <a:lstStyle/>
          <a:p>
            <a:r>
              <a:rPr lang="zh-TW" altLang="en-US" dirty="0"/>
              <a:t>計算 </a:t>
            </a:r>
            <a:r>
              <a:rPr lang="en-US" altLang="zh-TW" dirty="0"/>
              <a:t>AP</a:t>
            </a:r>
            <a:r>
              <a:rPr lang="zh-TW" altLang="en-US" dirty="0"/>
              <a:t>、</a:t>
            </a:r>
            <a:r>
              <a:rPr lang="en-US" altLang="zh-TW" dirty="0" err="1"/>
              <a:t>mAP</a:t>
            </a:r>
            <a:r>
              <a:rPr lang="en-US" altLang="zh-TW" dirty="0"/>
              <a:t> (Test data) - 3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4315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根據各類別</a:t>
            </a:r>
            <a:r>
              <a:rPr lang="en-US" altLang="zh-TW" dirty="0"/>
              <a:t> AP</a:t>
            </a:r>
            <a:r>
              <a:rPr lang="zh-TW" altLang="en-US" dirty="0"/>
              <a:t>，對 </a:t>
            </a:r>
            <a:r>
              <a:rPr lang="en-US" altLang="zh-TW" dirty="0" err="1"/>
              <a:t>idx</a:t>
            </a:r>
            <a:r>
              <a:rPr lang="en-US" altLang="zh-TW" dirty="0"/>
              <a:t> </a:t>
            </a:r>
            <a:r>
              <a:rPr lang="zh-TW" altLang="en-US" dirty="0"/>
              <a:t>降冪排序，得到排序好的 </a:t>
            </a:r>
            <a:r>
              <a:rPr lang="en-US" altLang="zh-TW" dirty="0" err="1"/>
              <a:t>idx</a:t>
            </a:r>
            <a:r>
              <a:rPr lang="zh-TW" altLang="en-US" dirty="0"/>
              <a:t> 表格</a:t>
            </a:r>
            <a:endParaRPr lang="en-US" altLang="zh-TW" dirty="0"/>
          </a:p>
          <a:p>
            <a:r>
              <a:rPr lang="zh-TW" altLang="en-US" dirty="0"/>
              <a:t>利用此 </a:t>
            </a:r>
            <a:r>
              <a:rPr lang="en-US" altLang="zh-TW" dirty="0" err="1"/>
              <a:t>idx</a:t>
            </a:r>
            <a:r>
              <a:rPr lang="zh-TW" altLang="en-US" dirty="0"/>
              <a:t> 表格，搭配 </a:t>
            </a:r>
            <a:r>
              <a:rPr lang="en-US" altLang="zh-TW" dirty="0"/>
              <a:t>AP</a:t>
            </a:r>
            <a:r>
              <a:rPr lang="zh-TW" altLang="en-US" dirty="0"/>
              <a:t> 表</a:t>
            </a:r>
            <a:r>
              <a:rPr lang="en-US" altLang="zh-TW" dirty="0"/>
              <a:t>(</a:t>
            </a:r>
            <a:r>
              <a:rPr lang="en-US" altLang="zh-TW" dirty="0" err="1"/>
              <a:t>average_precisions</a:t>
            </a:r>
            <a:r>
              <a:rPr lang="zh-TW" altLang="en-US" dirty="0"/>
              <a:t> 陣列</a:t>
            </a:r>
            <a:r>
              <a:rPr lang="en-US" altLang="zh-TW" dirty="0"/>
              <a:t>)</a:t>
            </a:r>
            <a:r>
              <a:rPr lang="zh-TW" altLang="en-US" dirty="0"/>
              <a:t>，即可由低到高，印出各 </a:t>
            </a:r>
            <a:r>
              <a:rPr lang="en-US" altLang="zh-TW" dirty="0"/>
              <a:t>class </a:t>
            </a:r>
            <a:r>
              <a:rPr lang="zh-TW" altLang="en-US" dirty="0"/>
              <a:t>之 </a:t>
            </a:r>
            <a:r>
              <a:rPr lang="en-US" altLang="zh-TW" dirty="0"/>
              <a:t>AP</a:t>
            </a:r>
          </a:p>
          <a:p>
            <a:r>
              <a:rPr lang="zh-TW" altLang="en-US" dirty="0"/>
              <a:t>最後計算所有 </a:t>
            </a:r>
            <a:r>
              <a:rPr lang="en-US" altLang="zh-TW" dirty="0"/>
              <a:t>class AP</a:t>
            </a:r>
            <a:r>
              <a:rPr lang="zh-TW" altLang="en-US" dirty="0"/>
              <a:t> 之平均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2421BEC-9869-480D-8509-93BA2A17C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3110992"/>
            <a:ext cx="7859222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74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14595" cy="665194"/>
          </a:xfrm>
        </p:spPr>
        <p:txBody>
          <a:bodyPr>
            <a:normAutofit/>
          </a:bodyPr>
          <a:lstStyle/>
          <a:p>
            <a:r>
              <a:rPr lang="en-US" altLang="zh-TW" dirty="0"/>
              <a:t>AP</a:t>
            </a:r>
            <a:r>
              <a:rPr lang="zh-TW" altLang="en-US" dirty="0"/>
              <a:t>、</a:t>
            </a:r>
            <a:r>
              <a:rPr lang="en-US" altLang="zh-TW" dirty="0" err="1"/>
              <a:t>mAP</a:t>
            </a:r>
            <a:r>
              <a:rPr lang="en-US" altLang="zh-TW" dirty="0"/>
              <a:t> (Test data) – </a:t>
            </a:r>
            <a:r>
              <a:rPr lang="zh-TW" altLang="en-US" dirty="0"/>
              <a:t>實驗結果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6C9F24-3826-42E5-AEB1-345226F50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90" y="1289304"/>
            <a:ext cx="2438740" cy="523948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92B9940-E7CC-43CA-92BE-786835E03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756" y="1347497"/>
            <a:ext cx="2419688" cy="416300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2510466-5A70-418A-860D-3DC22B5E1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775" y="1289304"/>
            <a:ext cx="2362530" cy="185763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AEB257B-1BFC-4823-86AF-D34090AAE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459" y="3239592"/>
            <a:ext cx="2476846" cy="2553056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78AEDDFC-7E69-4662-803A-FDDD6A3A38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40" y="6024311"/>
            <a:ext cx="4334480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26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88721-2AF6-457B-AE3C-350729BE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277" y="2827814"/>
            <a:ext cx="4265075" cy="1689322"/>
          </a:xfrm>
        </p:spPr>
        <p:txBody>
          <a:bodyPr>
            <a:noAutofit/>
          </a:bodyPr>
          <a:lstStyle/>
          <a:p>
            <a:r>
              <a:rPr lang="zh-TW" altLang="en-US" sz="7200" dirty="0"/>
              <a:t>實驗討論</a:t>
            </a:r>
            <a:endParaRPr lang="en-US" altLang="zh-TW" sz="7200" dirty="0"/>
          </a:p>
        </p:txBody>
      </p:sp>
    </p:spTree>
    <p:extLst>
      <p:ext uri="{BB962C8B-B14F-4D97-AF65-F5344CB8AC3E}">
        <p14:creationId xmlns:p14="http://schemas.microsoft.com/office/powerpoint/2010/main" val="195524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14595" cy="665194"/>
          </a:xfrm>
        </p:spPr>
        <p:txBody>
          <a:bodyPr>
            <a:normAutofit/>
          </a:bodyPr>
          <a:lstStyle/>
          <a:p>
            <a:r>
              <a:rPr lang="zh-TW" altLang="en-US" dirty="0"/>
              <a:t>討論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– loss &amp; accuracy curve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431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6A98370-C997-46C7-9B41-CD34B291C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65" y="2613151"/>
            <a:ext cx="9118530" cy="3528415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CC54035-6FCB-41F9-AF68-0D9499740A14}"/>
              </a:ext>
            </a:extLst>
          </p:cNvPr>
          <p:cNvSpPr txBox="1">
            <a:spLocks/>
          </p:cNvSpPr>
          <p:nvPr/>
        </p:nvSpPr>
        <p:spPr>
          <a:xfrm>
            <a:off x="2589212" y="1484377"/>
            <a:ext cx="9105964" cy="73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即使設計了 </a:t>
            </a:r>
            <a:r>
              <a:rPr lang="en-US" altLang="zh-TW" dirty="0"/>
              <a:t>drop out</a:t>
            </a:r>
            <a:r>
              <a:rPr lang="zh-TW" altLang="en-US" dirty="0"/>
              <a:t> 層，</a:t>
            </a:r>
            <a:r>
              <a:rPr lang="en-US" altLang="zh-TW" dirty="0"/>
              <a:t>L2</a:t>
            </a:r>
            <a:r>
              <a:rPr lang="zh-TW" altLang="en-US" dirty="0"/>
              <a:t> 正規化層，以及逐漸減半的 </a:t>
            </a:r>
            <a:r>
              <a:rPr lang="en-US" altLang="zh-TW" dirty="0"/>
              <a:t>LR</a:t>
            </a:r>
            <a:r>
              <a:rPr lang="zh-TW" altLang="en-US" dirty="0"/>
              <a:t> ，依舊防止不了模型的過擬和，從圖中可看出大約 </a:t>
            </a:r>
            <a:r>
              <a:rPr lang="en-US" altLang="zh-TW" dirty="0"/>
              <a:t>10 </a:t>
            </a:r>
            <a:r>
              <a:rPr lang="en-US" altLang="zh-TW" dirty="0" err="1"/>
              <a:t>epoches</a:t>
            </a:r>
            <a:r>
              <a:rPr lang="en-US" altLang="zh-TW" dirty="0"/>
              <a:t> </a:t>
            </a:r>
            <a:r>
              <a:rPr lang="zh-TW" altLang="en-US" dirty="0"/>
              <a:t>後模型就沒有什麼改善了</a:t>
            </a:r>
            <a:r>
              <a:rPr lang="en-US" altLang="zh-TW" dirty="0"/>
              <a:t>QQ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68834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14595" cy="665194"/>
          </a:xfrm>
        </p:spPr>
        <p:txBody>
          <a:bodyPr>
            <a:normAutofit/>
          </a:bodyPr>
          <a:lstStyle/>
          <a:p>
            <a:r>
              <a:rPr lang="zh-TW" altLang="en-US" dirty="0"/>
              <a:t>討論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– </a:t>
            </a:r>
            <a:r>
              <a:rPr lang="zh-TW" altLang="en-US" dirty="0"/>
              <a:t>模型難以學會的 </a:t>
            </a:r>
            <a:r>
              <a:rPr lang="en-US" altLang="zh-TW" dirty="0"/>
              <a:t>class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431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TW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2CC54035-6FCB-41F9-AF68-0D9499740A14}"/>
              </a:ext>
            </a:extLst>
          </p:cNvPr>
          <p:cNvSpPr txBox="1">
            <a:spLocks/>
          </p:cNvSpPr>
          <p:nvPr/>
        </p:nvSpPr>
        <p:spPr>
          <a:xfrm>
            <a:off x="4947920" y="1677416"/>
            <a:ext cx="4917440" cy="4123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左圖為各 </a:t>
            </a:r>
            <a:r>
              <a:rPr lang="en-US" altLang="zh-TW" dirty="0"/>
              <a:t>class</a:t>
            </a:r>
            <a:r>
              <a:rPr lang="zh-TW" altLang="en-US" dirty="0"/>
              <a:t> 的 </a:t>
            </a:r>
            <a:r>
              <a:rPr lang="en-US" altLang="zh-TW" dirty="0"/>
              <a:t>AP(</a:t>
            </a:r>
            <a:r>
              <a:rPr lang="zh-TW" altLang="en-US" dirty="0"/>
              <a:t>升冪排序</a:t>
            </a:r>
            <a:r>
              <a:rPr lang="en-US" altLang="zh-TW" dirty="0"/>
              <a:t>)</a:t>
            </a:r>
            <a:r>
              <a:rPr lang="zh-TW" altLang="en-US" dirty="0"/>
              <a:t>，可以很明顯看出模型學習蔬菜學的挺糟糕的。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我原本以為是因為 </a:t>
            </a:r>
            <a:r>
              <a:rPr lang="en-US" altLang="zh-TW" dirty="0"/>
              <a:t>data</a:t>
            </a:r>
            <a:r>
              <a:rPr lang="zh-TW" altLang="en-US" dirty="0"/>
              <a:t> 量不夠 </a:t>
            </a:r>
            <a:r>
              <a:rPr lang="en-US" altLang="zh-TW" dirty="0"/>
              <a:t>(</a:t>
            </a:r>
            <a:r>
              <a:rPr lang="zh-TW" altLang="en-US" dirty="0"/>
              <a:t>因為福山萵苣只有 </a:t>
            </a:r>
            <a:r>
              <a:rPr lang="en-US" altLang="zh-TW" dirty="0"/>
              <a:t>400</a:t>
            </a:r>
            <a:r>
              <a:rPr lang="zh-TW" altLang="en-US" dirty="0"/>
              <a:t> 多張</a:t>
            </a:r>
            <a:r>
              <a:rPr lang="en-US" altLang="zh-TW" dirty="0"/>
              <a:t>)</a:t>
            </a:r>
            <a:r>
              <a:rPr lang="zh-TW" altLang="en-US" dirty="0"/>
              <a:t>，但繼續看會發現，有機小松菜即使有 </a:t>
            </a:r>
            <a:r>
              <a:rPr lang="en-US" altLang="zh-TW" dirty="0"/>
              <a:t>2000</a:t>
            </a:r>
            <a:r>
              <a:rPr lang="zh-TW" altLang="en-US" dirty="0"/>
              <a:t> 張，準確率依然很低。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基本上準確低的大部分都是蔬菜，我猜是他們的特徵太相似</a:t>
            </a:r>
            <a:r>
              <a:rPr lang="en-US" altLang="zh-TW" dirty="0"/>
              <a:t>(</a:t>
            </a:r>
            <a:r>
              <a:rPr lang="zh-TW" altLang="en-US" dirty="0"/>
              <a:t>都是綠綠的葉子</a:t>
            </a:r>
            <a:r>
              <a:rPr lang="en-US" altLang="zh-TW" dirty="0"/>
              <a:t>)</a:t>
            </a:r>
            <a:r>
              <a:rPr lang="zh-TW" altLang="en-US" dirty="0"/>
              <a:t>，可能需要根據這些易混淆的 </a:t>
            </a:r>
            <a:r>
              <a:rPr lang="en-US" altLang="zh-TW" dirty="0"/>
              <a:t>class</a:t>
            </a:r>
            <a:r>
              <a:rPr lang="zh-TW" altLang="en-US" dirty="0"/>
              <a:t> 找更多資料訓練，或更特化這些特徵之類的，才能讓模型好一點吧。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4B1FE1E-E5BF-47D2-B019-255388D1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626" y="1393460"/>
            <a:ext cx="2438740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27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討論</a:t>
            </a:r>
            <a:r>
              <a:rPr lang="en-US" altLang="zh-TW" dirty="0"/>
              <a:t>3 – </a:t>
            </a:r>
            <a:r>
              <a:rPr lang="zh-TW" altLang="en-US" dirty="0"/>
              <a:t>調整 </a:t>
            </a:r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0861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同樣以 </a:t>
            </a:r>
            <a:r>
              <a:rPr lang="en-US" altLang="zh-TW" dirty="0" err="1"/>
              <a:t>EfficientNet</a:t>
            </a:r>
            <a:r>
              <a:rPr lang="zh-TW" altLang="en-US" dirty="0"/>
              <a:t> 作為 </a:t>
            </a:r>
            <a:r>
              <a:rPr lang="en-US" altLang="zh-TW" dirty="0"/>
              <a:t>base model</a:t>
            </a:r>
            <a:r>
              <a:rPr lang="zh-TW" altLang="en-US" dirty="0"/>
              <a:t>，在此之上添加一層全連接層</a:t>
            </a:r>
            <a:r>
              <a:rPr lang="en-US" altLang="zh-TW" dirty="0"/>
              <a:t>(1024</a:t>
            </a:r>
            <a:r>
              <a:rPr lang="zh-TW" altLang="en-US" dirty="0"/>
              <a:t> </a:t>
            </a:r>
            <a:r>
              <a:rPr lang="en-US" altLang="zh-TW" dirty="0"/>
              <a:t>node)</a:t>
            </a:r>
            <a:r>
              <a:rPr lang="zh-TW" altLang="en-US" dirty="0"/>
              <a:t>，且沒有加正規化。可以看到即使到 </a:t>
            </a:r>
            <a:r>
              <a:rPr lang="en-US" altLang="zh-TW" dirty="0"/>
              <a:t>20</a:t>
            </a:r>
            <a:r>
              <a:rPr lang="zh-TW" altLang="en-US" dirty="0"/>
              <a:t> </a:t>
            </a:r>
            <a:r>
              <a:rPr lang="en-US" altLang="zh-TW" dirty="0" err="1"/>
              <a:t>epoches</a:t>
            </a:r>
            <a:r>
              <a:rPr lang="zh-TW" altLang="en-US" dirty="0"/>
              <a:t>， </a:t>
            </a:r>
            <a:r>
              <a:rPr lang="en-US" altLang="zh-TW" dirty="0"/>
              <a:t>train accuracy </a:t>
            </a:r>
            <a:r>
              <a:rPr lang="zh-TW" altLang="en-US" dirty="0"/>
              <a:t>也只到 </a:t>
            </a:r>
            <a:r>
              <a:rPr lang="en-US" altLang="zh-TW" dirty="0"/>
              <a:t>0.95</a:t>
            </a:r>
            <a:r>
              <a:rPr lang="zh-TW" altLang="en-US" dirty="0"/>
              <a:t>，推測是因為加了一層全連接層，導致訓練所需 </a:t>
            </a:r>
            <a:r>
              <a:rPr lang="en-US" altLang="zh-TW" dirty="0" err="1"/>
              <a:t>epoches</a:t>
            </a:r>
            <a:r>
              <a:rPr lang="zh-TW" altLang="en-US" dirty="0"/>
              <a:t> 增加，但觀察 </a:t>
            </a:r>
            <a:r>
              <a:rPr lang="en-US" altLang="zh-TW" dirty="0" err="1"/>
              <a:t>val_loss</a:t>
            </a:r>
            <a:r>
              <a:rPr lang="zh-TW" altLang="en-US" dirty="0"/>
              <a:t> 可知模型早已 </a:t>
            </a:r>
            <a:r>
              <a:rPr lang="en-US" altLang="zh-TW" dirty="0"/>
              <a:t>overfit</a:t>
            </a:r>
            <a:r>
              <a:rPr lang="zh-TW" altLang="en-US" dirty="0"/>
              <a:t>了。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70A5CAA-31B8-4E4F-9D68-74BE237B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32" y="2762459"/>
            <a:ext cx="9189243" cy="34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04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B0780-3265-4BD2-88F4-85FA412C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5194"/>
          </a:xfrm>
        </p:spPr>
        <p:txBody>
          <a:bodyPr/>
          <a:lstStyle/>
          <a:p>
            <a:r>
              <a:rPr lang="zh-TW" altLang="en-US" dirty="0"/>
              <a:t>討論</a:t>
            </a:r>
            <a:r>
              <a:rPr lang="en-US" altLang="zh-TW" dirty="0"/>
              <a:t>4 - </a:t>
            </a:r>
            <a:r>
              <a:rPr lang="zh-TW" altLang="en-US" dirty="0"/>
              <a:t>使用 </a:t>
            </a:r>
            <a:r>
              <a:rPr lang="en-US" altLang="zh-TW" dirty="0" err="1"/>
              <a:t>ResNet</a:t>
            </a:r>
            <a:r>
              <a:rPr lang="en-US" altLang="zh-TW" dirty="0"/>
              <a:t> 50</a:t>
            </a:r>
            <a:r>
              <a:rPr lang="zh-TW" altLang="en-US" dirty="0"/>
              <a:t> 當 </a:t>
            </a:r>
            <a:r>
              <a:rPr lang="en-US" altLang="zh-TW" dirty="0"/>
              <a:t>base model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148D0B3-C7B2-46F6-9D98-D94AA85CF1D7}"/>
              </a:ext>
            </a:extLst>
          </p:cNvPr>
          <p:cNvSpPr txBox="1">
            <a:spLocks/>
          </p:cNvSpPr>
          <p:nvPr/>
        </p:nvSpPr>
        <p:spPr>
          <a:xfrm>
            <a:off x="2589212" y="1484376"/>
            <a:ext cx="9105964" cy="1340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在 </a:t>
            </a:r>
            <a:r>
              <a:rPr lang="en-US" altLang="zh-TW" dirty="0"/>
              <a:t>train </a:t>
            </a:r>
            <a:r>
              <a:rPr lang="zh-TW" altLang="en-US" dirty="0"/>
              <a:t>了 </a:t>
            </a:r>
            <a:r>
              <a:rPr lang="en-US" altLang="zh-TW" dirty="0"/>
              <a:t>10</a:t>
            </a:r>
            <a:r>
              <a:rPr lang="zh-TW" altLang="en-US" dirty="0"/>
              <a:t> </a:t>
            </a:r>
            <a:r>
              <a:rPr lang="en-US" altLang="zh-TW" dirty="0" err="1"/>
              <a:t>epoches</a:t>
            </a:r>
            <a:r>
              <a:rPr lang="zh-TW" altLang="en-US" dirty="0"/>
              <a:t> 的情況下，</a:t>
            </a:r>
            <a:r>
              <a:rPr lang="en-US" altLang="zh-TW" dirty="0"/>
              <a:t>acc</a:t>
            </a:r>
            <a:r>
              <a:rPr lang="zh-TW" altLang="en-US" dirty="0"/>
              <a:t> 已達到 </a:t>
            </a:r>
            <a:r>
              <a:rPr lang="en-US" altLang="zh-TW" dirty="0"/>
              <a:t>0.94</a:t>
            </a:r>
            <a:r>
              <a:rPr lang="zh-TW" altLang="en-US" dirty="0"/>
              <a:t>，而 </a:t>
            </a:r>
            <a:r>
              <a:rPr lang="en-US" altLang="zh-TW" dirty="0" err="1"/>
              <a:t>val_acc</a:t>
            </a:r>
            <a:r>
              <a:rPr lang="zh-TW" altLang="en-US" dirty="0"/>
              <a:t> 僅有 </a:t>
            </a:r>
            <a:r>
              <a:rPr lang="en-US" altLang="zh-TW" dirty="0"/>
              <a:t>0.73</a:t>
            </a:r>
            <a:r>
              <a:rPr lang="zh-TW" altLang="en-US" dirty="0"/>
              <a:t> ，可見其訓練所需時間比 </a:t>
            </a:r>
            <a:r>
              <a:rPr lang="en-US" altLang="zh-TW" dirty="0" err="1"/>
              <a:t>EfficientNet</a:t>
            </a:r>
            <a:r>
              <a:rPr lang="zh-TW" altLang="en-US" dirty="0"/>
              <a:t> 還久，且面臨更嚴重 </a:t>
            </a:r>
            <a:r>
              <a:rPr lang="en-US" altLang="zh-TW" dirty="0"/>
              <a:t>overfit</a:t>
            </a:r>
            <a:r>
              <a:rPr lang="zh-TW" altLang="en-US" dirty="0"/>
              <a:t> 問題， </a:t>
            </a:r>
            <a:r>
              <a:rPr lang="en-US" altLang="zh-TW" dirty="0"/>
              <a:t>over fit </a:t>
            </a:r>
            <a:r>
              <a:rPr lang="zh-TW" altLang="en-US" dirty="0"/>
              <a:t>真的是一大難題，到底要怎麼克服阿</a:t>
            </a:r>
            <a:r>
              <a:rPr lang="en-US" altLang="zh-TW" dirty="0"/>
              <a:t>…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D8E6EF9-1A2A-4E5E-BE3C-EEEC297D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7979"/>
            <a:ext cx="12192000" cy="82513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ECB060B-174C-4D1E-90A1-309F8E5A8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934" y="3463443"/>
            <a:ext cx="7884132" cy="31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25418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1873</TotalTime>
  <Words>1256</Words>
  <Application>Microsoft Office PowerPoint</Application>
  <PresentationFormat>寬螢幕</PresentationFormat>
  <Paragraphs>96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9" baseType="lpstr">
      <vt:lpstr>Arial</vt:lpstr>
      <vt:lpstr>Century Gothic</vt:lpstr>
      <vt:lpstr>Wingdings 3</vt:lpstr>
      <vt:lpstr>絲縷</vt:lpstr>
      <vt:lpstr>CV in DL 期中作業</vt:lpstr>
      <vt:lpstr>目錄</vt:lpstr>
      <vt:lpstr>實驗環境</vt:lpstr>
      <vt:lpstr>使用 Kaggle kernel</vt:lpstr>
      <vt:lpstr>資料處理</vt:lpstr>
      <vt:lpstr>儲存檔案資訊</vt:lpstr>
      <vt:lpstr>打亂檔案順序</vt:lpstr>
      <vt:lpstr>定義資料比例</vt:lpstr>
      <vt:lpstr>資料生成</vt:lpstr>
      <vt:lpstr>定義 data_generator - 1</vt:lpstr>
      <vt:lpstr>定義 data_generator - 2</vt:lpstr>
      <vt:lpstr>定義 data_generator - 3</vt:lpstr>
      <vt:lpstr>模型設計</vt:lpstr>
      <vt:lpstr>使用 EfficientNet B0 作為 base mdoel</vt:lpstr>
      <vt:lpstr>以 base model 為底，建立自己的 model</vt:lpstr>
      <vt:lpstr>模型 summary</vt:lpstr>
      <vt:lpstr>Learning Rate 設計</vt:lpstr>
      <vt:lpstr>模型訓練</vt:lpstr>
      <vt:lpstr>結果分析</vt:lpstr>
      <vt:lpstr>訓練時長</vt:lpstr>
      <vt:lpstr>Loss curve &amp; Accuracy curve</vt:lpstr>
      <vt:lpstr>計算 Top 1 正確預測數量 (Val data)</vt:lpstr>
      <vt:lpstr>計算 Top 5 正確預測數量 (Val data)</vt:lpstr>
      <vt:lpstr>計算 Top 1,5 acc &amp; Confusion Matrix(Val data)</vt:lpstr>
      <vt:lpstr>實驗結果 (Val data)</vt:lpstr>
      <vt:lpstr>實驗結果 (Test data)</vt:lpstr>
      <vt:lpstr>計算 AP、mAP (Test data) - 1</vt:lpstr>
      <vt:lpstr>計算 AP、mAP (Test data) - 2</vt:lpstr>
      <vt:lpstr>計算 AP、mAP (Test data) - 3</vt:lpstr>
      <vt:lpstr>AP、mAP (Test data) – 實驗結果</vt:lpstr>
      <vt:lpstr>實驗討論</vt:lpstr>
      <vt:lpstr>討論1 – loss &amp; accuracy curve</vt:lpstr>
      <vt:lpstr>討論2 – 模型難以學會的 class</vt:lpstr>
      <vt:lpstr>討論3 – 調整 model</vt:lpstr>
      <vt:lpstr>討論4 - 使用 ResNet 50 當 base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 期中作業</dc:title>
  <dc:creator>王 郁誠</dc:creator>
  <cp:lastModifiedBy>王郁誠 WANG,YU-CHENG</cp:lastModifiedBy>
  <cp:revision>31</cp:revision>
  <dcterms:created xsi:type="dcterms:W3CDTF">2024-12-08T08:42:50Z</dcterms:created>
  <dcterms:modified xsi:type="dcterms:W3CDTF">2025-04-01T17:30:03Z</dcterms:modified>
</cp:coreProperties>
</file>